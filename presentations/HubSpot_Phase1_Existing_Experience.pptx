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embeddedFontLst>
    <p:embeddedFont>
      <p:font typeface="Inter" pitchFamily="34" charset="0"/>
      <p:regular r:id="rId33"/>
      <p:bold r:id="rId34"/>
      <p:italic r:id="rId35"/>
      <p:boldItalic r:id="rId36"/>
    </p:embeddedFont>
  </p:embeddedFont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font" Target="fonts/1ED3C1A5-E31E-4807-BC3C-B43322C41DA9.fntdata"/><Relationship Id="rId34" Type="http://schemas.openxmlformats.org/officeDocument/2006/relationships/font" Target="fonts/F9E3FC20-3C9A-4A4C-A74D-340F393679C1.fntdata"/><Relationship Id="rId35" Type="http://schemas.openxmlformats.org/officeDocument/2006/relationships/font" Target="fonts/AC566F6B-7A3C-430C-B21B-852F6F7B043C.fntdata"/><Relationship Id="rId36" Type="http://schemas.openxmlformats.org/officeDocument/2006/relationships/font" Target="fonts/7D0E9B38-703D-4ED9-B9B7-5849BB3159F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E24A1A"/>
                </a:solidFill>
                <a:latin typeface="Inter"/>
                <a:ea typeface="Inter"/>
                <a:cs typeface="Inter"/>
              </a:rPr>
              <a:t>HUBSPOT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Existing experience
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85953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9D3CB"/>
                </a:solidFill>
                <a:latin typeface="Inter"/>
                <a:ea typeface="Inter"/>
                <a:cs typeface="Inter"/>
              </a:rPr>
              <a:t>Managing a qualified deal through the pipeline — from review and follow-up to a recorded outcome.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10881360" cy="9144"/>
          </a:xfrm>
          <a:prstGeom prst="rect">
            <a:avLst/>
          </a:prstGeom>
          <a:solidFill>
            <a:srgbClr val="2A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98348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24A1A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30368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HubSpot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7" y="498348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24A1A"/>
                </a:solidFill>
                <a:latin typeface="Inter"/>
                <a:ea typeface="Inter"/>
                <a:cs typeface="Inter"/>
              </a:rPr>
              <a:t>PRIMARY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7" y="52303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Sales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983480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24A1A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5230368"/>
            <a:ext cx="379475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Qualified To Buy  →  Closed Won / Closed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49834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24A1A"/>
                </a:solidFill>
                <a:latin typeface="Inter"/>
                <a:ea typeface="Inter"/>
                <a:cs typeface="Inter"/>
              </a:rPr>
              <a:t>EVALUATOR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52303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Safa Badamchi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E7A08A"/>
                </a:solidFill>
                <a:latin typeface="Inter"/>
                <a:ea typeface="Inter"/>
                <a:cs typeface="Inter"/>
              </a:rPr>
              <a:t>PHASE 1   ·   FINAL COURSE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6079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AAA4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PRESENTATION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One workflow, traced from action to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report connects existing behavior, walkthrough evidence, affinity themes, and four priorities.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56231"/>
            <a:ext cx="2709671" cy="28803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12263"/>
            <a:ext cx="23439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96311"/>
            <a:ext cx="2343911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Existing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47872"/>
            <a:ext cx="2307335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What does the representative do now?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8583" y="30906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3175" y="1856231"/>
            <a:ext cx="2709671" cy="28803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343" y="2112263"/>
            <a:ext cx="23439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343" y="2496311"/>
            <a:ext cx="2343911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Cognitive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343" y="3547872"/>
            <a:ext cx="2307335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What happens at each step?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4559" y="30906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9151" y="1856231"/>
            <a:ext cx="2709671" cy="28803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319" y="2112263"/>
            <a:ext cx="23439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319" y="2496311"/>
            <a:ext cx="2343911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319" y="3547872"/>
            <a:ext cx="2307335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What patterns repeat across the experience?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5" y="30906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7" y="1856231"/>
            <a:ext cx="2709671" cy="2880360"/>
          </a:xfrm>
          <a:prstGeom prst="roundRect">
            <a:avLst>
              <a:gd name="adj" fmla="val 8000"/>
            </a:avLst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5" y="2112263"/>
            <a:ext cx="23439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80">
                <a:solidFill>
                  <a:srgbClr val="F0B8A4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5" y="2496311"/>
            <a:ext cx="2343911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Prioritized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5" y="3547872"/>
            <a:ext cx="2307335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5D0C8"/>
                </a:solidFill>
                <a:latin typeface="Inter"/>
                <a:ea typeface="Inter"/>
                <a:cs typeface="Inter"/>
              </a:rPr>
              <a:t>What matters most for Phase 2?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23560"/>
            <a:ext cx="11277599" cy="749808"/>
          </a:xfrm>
          <a:prstGeom prst="roundRect">
            <a:avLst>
              <a:gd name="adj" fmla="val 6000"/>
            </a:avLst>
          </a:prstGeom>
          <a:solidFill>
            <a:srgbClr val="F8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623560"/>
            <a:ext cx="73152" cy="749808"/>
          </a:xfrm>
          <a:prstGeom prst="rect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332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E24A1A"/>
                </a:solidFill>
                <a:latin typeface="Inter"/>
                <a:ea typeface="Inter"/>
                <a:cs typeface="Inter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733288"/>
            <a:ext cx="95097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One existing qualified deal — from record review through closure. Lead generation, marketing, forecasting, pipeline administration, and post-sale delivery are excluded.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02  / 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1   ·   EXISTING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tightly scoped end-to-end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One qualified deal: review the record, update it, record activity, follow up, change stage, and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5565647" cy="117043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73152" cy="1170432"/>
          </a:xfrm>
          <a:prstGeom prst="rect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83664"/>
            <a:ext cx="51450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90">
                <a:solidFill>
                  <a:srgbClr val="E24A1A"/>
                </a:solidFill>
                <a:latin typeface="Inter"/>
                <a:ea typeface="Inter"/>
                <a:cs typeface="Inter"/>
              </a:rPr>
              <a:t>PRIMARY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9696"/>
            <a:ext cx="5108447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Sales representative managing an existing qualified opportunity in HubSpot CRM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9151" y="1737360"/>
            <a:ext cx="5565647" cy="117043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9151" y="1737360"/>
            <a:ext cx="73152" cy="1170432"/>
          </a:xfrm>
          <a:prstGeom prst="rect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183" y="1883664"/>
            <a:ext cx="51450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90">
                <a:solidFill>
                  <a:srgbClr val="E24A1A"/>
                </a:solidFill>
                <a:latin typeface="Inter"/>
                <a:ea typeface="Inter"/>
                <a:cs typeface="Inter"/>
              </a:rPr>
              <a:t>USER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183" y="2139696"/>
            <a:ext cx="5108447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Understand status, update information, record activity, follow up, and respond to new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35808"/>
            <a:ext cx="5565647" cy="117043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35808"/>
            <a:ext cx="73152" cy="1170432"/>
          </a:xfrm>
          <a:prstGeom prst="rect">
            <a:avLst/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82112"/>
            <a:ext cx="51450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90">
                <a:solidFill>
                  <a:srgbClr val="1E463F"/>
                </a:solidFill>
                <a:latin typeface="Inter"/>
                <a:ea typeface="Inter"/>
                <a:cs typeface="Inter"/>
              </a:rPr>
              <a:t>BEGINNING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38144"/>
            <a:ext cx="5108447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Qualified To Buy — the representative opens the active deal and assesses what needs 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9151" y="3035808"/>
            <a:ext cx="5565647" cy="117043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9151" y="3035808"/>
            <a:ext cx="73152" cy="1170432"/>
          </a:xfrm>
          <a:prstGeom prst="rect">
            <a:avLst/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183" y="3182112"/>
            <a:ext cx="51450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90">
                <a:solidFill>
                  <a:srgbClr val="1E463F"/>
                </a:solidFill>
                <a:latin typeface="Inter"/>
                <a:ea typeface="Inter"/>
                <a:cs typeface="Inter"/>
              </a:rPr>
              <a:t>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183" y="3438144"/>
            <a:ext cx="5108447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Closed Won or Closed Lost — the observed walkthrough ended in Closed Lost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77599" cy="868680"/>
          </a:xfrm>
          <a:prstGeom prst="roundRect">
            <a:avLst>
              <a:gd name="adj" fmla="val 7000"/>
            </a:avLst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60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0B8A4"/>
                </a:solidFill>
                <a:latin typeface="Inter"/>
                <a:ea typeface="Inter"/>
                <a:cs typeface="Inter"/>
              </a:rPr>
              <a:t>EVALUATION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9788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How well does the workflow help the representative understand the current state, take the next action, and trust the recorded outcome?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03  / 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1   ·   EXISTING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Seven steps from review to a recorded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path is linear until the customer does not respond. The October 2 reply was captured later, after the deal had closed.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Open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Record 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1348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2788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2788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Update deal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2788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Amount updated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5497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6937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6937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Record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6937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Activity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9645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1085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1085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Contact &amp; follow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1085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Follow-up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3794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5234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5234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Review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5234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Response reviewed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942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9382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9382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Advance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9382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Presentation scheduled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02091" y="1792224"/>
            <a:ext cx="1532708" cy="2148840"/>
          </a:xfrm>
          <a:prstGeom prst="roundRect">
            <a:avLst>
              <a:gd name="adj" fmla="val 8000"/>
            </a:avLst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3531" y="1956816"/>
            <a:ext cx="136811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B8A4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3531" y="2267712"/>
            <a:ext cx="136811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Close deal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3531" y="3346704"/>
            <a:ext cx="1368116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5D0C8"/>
                </a:solidFill>
                <a:latin typeface="Inter"/>
                <a:ea typeface="Inter"/>
                <a:cs typeface="Inter"/>
              </a:rPr>
              <a:t>Closed Lost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97096"/>
            <a:ext cx="11277599" cy="1417320"/>
          </a:xfrm>
          <a:prstGeom prst="roundRect">
            <a:avLst>
              <a:gd name="adj" fmla="val 7000"/>
            </a:avLst>
          </a:prstGeom>
          <a:solidFill>
            <a:srgbClr val="F8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97096"/>
            <a:ext cx="73152" cy="1417320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361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8B2E2E"/>
                </a:solidFill>
                <a:latin typeface="Inter"/>
                <a:ea typeface="Inter"/>
                <a:cs typeface="Inter"/>
              </a:rPr>
              <a:t>CRITICAL BRANCH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654296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After Closed Lost, the customer replied “move forward.” The reply was recorded in the timeline, but the board, notification centre, and follow-up surfaces remained quiet.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04  / 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1   ·   EXISTING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Review, update, record, and follow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Steps 01–04. Evidence labels from the original workflow map are retained.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3.png"/>
          <p:cNvPicPr>
            <a:picLocks noChangeAspect="1"/>
          </p:cNvPicPr>
          <p:nvPr/>
        </p:nvPicPr>
        <p:blipFill>
          <a:blip r:embed="rId2"/>
          <a:srcRect l="0" r="0" b="11061"/>
          <a:stretch>
            <a:fillRect/>
          </a:stretch>
        </p:blipFill>
        <p:spPr>
          <a:xfrm>
            <a:off x="457200" y="1682495"/>
            <a:ext cx="2723387" cy="1572768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3346703"/>
            <a:ext cx="27233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01   Open &amp;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59"/>
            <a:ext cx="2723387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Open the deal and review stage, amount, activity, and associations.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7822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0831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Overview / Activities / Emails /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01183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47488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Qualified To Buy; record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31536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Properties, timeline, and associations are displayed.</a:t>
            </a:r>
          </a:p>
        </p:txBody>
      </p:sp>
      <p:pic>
        <p:nvPicPr>
          <p:cNvPr id="19" name="Picture 18" descr="k5.png"/>
          <p:cNvPicPr>
            <a:picLocks noChangeAspect="1"/>
          </p:cNvPicPr>
          <p:nvPr/>
        </p:nvPicPr>
        <p:blipFill>
          <a:blip r:embed="rId3"/>
          <a:srcRect l="0" r="0" b="11061"/>
          <a:stretch>
            <a:fillRect/>
          </a:stretch>
        </p:blipFill>
        <p:spPr>
          <a:xfrm>
            <a:off x="3308603" y="1682495"/>
            <a:ext cx="2723387" cy="1572768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3308603" y="3346703"/>
            <a:ext cx="27233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02   Update deal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8603" y="3566159"/>
            <a:ext cx="2723387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Update Amount from the Deals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8603" y="407822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8603" y="40782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K4–K5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8603" y="4370831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8603" y="4517136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Amount / Close Date / Stage /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8603" y="4901183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8603" y="5047488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Qualified To Buy; amount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8603" y="5431536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8603" y="5577840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new value is reflected on the deal.</a:t>
            </a:r>
          </a:p>
        </p:txBody>
      </p:sp>
      <p:pic>
        <p:nvPicPr>
          <p:cNvPr id="30" name="Picture 29" descr="k6.png"/>
          <p:cNvPicPr>
            <a:picLocks noChangeAspect="1"/>
          </p:cNvPicPr>
          <p:nvPr/>
        </p:nvPicPr>
        <p:blipFill>
          <a:blip r:embed="rId4"/>
          <a:srcRect l="0" r="0" b="11061"/>
          <a:stretch>
            <a:fillRect/>
          </a:stretch>
        </p:blipFill>
        <p:spPr>
          <a:xfrm>
            <a:off x="6160007" y="1682495"/>
            <a:ext cx="2723387" cy="1572768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6160007" y="3346703"/>
            <a:ext cx="27233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03   Record 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0007" y="3566159"/>
            <a:ext cx="2723387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Create a note documenting the client conversation.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0007" y="407822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0007" y="40782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0007" y="4370831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0007" y="4517136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Note / Email / Call / Task / Meeting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0007" y="4901183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0007" y="5047488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Activity recorded; no next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0007" y="5431536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0007" y="5577840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note appears in the timeline with a timestamp.</a:t>
            </a:r>
          </a:p>
        </p:txBody>
      </p:sp>
      <p:pic>
        <p:nvPicPr>
          <p:cNvPr id="41" name="Picture 40" descr="k7.png"/>
          <p:cNvPicPr>
            <a:picLocks noChangeAspect="1"/>
          </p:cNvPicPr>
          <p:nvPr/>
        </p:nvPicPr>
        <p:blipFill>
          <a:blip r:embed="rId5"/>
          <a:srcRect l="0" r="0" b="11061"/>
          <a:stretch>
            <a:fillRect/>
          </a:stretch>
        </p:blipFill>
        <p:spPr>
          <a:xfrm>
            <a:off x="9011411" y="1682495"/>
            <a:ext cx="2723387" cy="1572768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9011411" y="3346703"/>
            <a:ext cx="27233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04   Contact &amp; follow 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411" y="3566159"/>
            <a:ext cx="2723387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Send email and select “Create a task to follow up.”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11411" y="407822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1411" y="40782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K7–K8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1411" y="4370831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1411" y="4517136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Create task to follow up / No task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1411" y="4901183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1411" y="5047488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Email sent; follow-up pending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1411" y="5431536"/>
            <a:ext cx="27233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1411" y="5577840"/>
            <a:ext cx="2723387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 task is created, due in three days, with no reminder.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05  / 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1   ·   EXISTING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Review the response, advance,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Steps 05–07. The response capture belongs to the later post-closure branch, not the original closure sequence.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13.png"/>
          <p:cNvPicPr>
            <a:picLocks noChangeAspect="1"/>
          </p:cNvPicPr>
          <p:nvPr/>
        </p:nvPicPr>
        <p:blipFill>
          <a:blip r:embed="rId2"/>
          <a:srcRect b="21160"/>
          <a:stretch>
            <a:fillRect/>
          </a:stretch>
        </p:blipFill>
        <p:spPr>
          <a:xfrm>
            <a:off x="457200" y="1664207"/>
            <a:ext cx="3661663" cy="1874519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3630168"/>
            <a:ext cx="366166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05   Review response</a:t>
            </a: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    K11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4487"/>
            <a:ext cx="3661663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Review the timeline for a customer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1688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Incoming email / Note /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38344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Awaiting / reviewing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22392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68696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 reply appears in the timeline when available.</a:t>
            </a:r>
          </a:p>
        </p:txBody>
      </p:sp>
      <p:pic>
        <p:nvPicPr>
          <p:cNvPr id="17" name="Picture 16" descr="k9.png"/>
          <p:cNvPicPr>
            <a:picLocks noChangeAspect="1"/>
          </p:cNvPicPr>
          <p:nvPr/>
        </p:nvPicPr>
        <p:blipFill>
          <a:blip r:embed="rId3"/>
          <a:srcRect b="21160"/>
          <a:stretch>
            <a:fillRect/>
          </a:stretch>
        </p:blipFill>
        <p:spPr>
          <a:xfrm>
            <a:off x="4265167" y="1664207"/>
            <a:ext cx="3661663" cy="1874519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265167" y="3630168"/>
            <a:ext cx="366166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06   Advance stage</a:t>
            </a: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    K9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5167" y="3904487"/>
            <a:ext cx="3661663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Drag the deal to Presentation Scheduled.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5167" y="4361688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5167" y="4507992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Appointment through Closed Won / Closed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5167" y="4892040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5167" y="5038344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Presentation Scheduled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5167" y="5422392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5167" y="5568696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Card position and column counts update.</a:t>
            </a:r>
          </a:p>
        </p:txBody>
      </p:sp>
      <p:pic>
        <p:nvPicPr>
          <p:cNvPr id="26" name="Picture 25" descr="k10.png"/>
          <p:cNvPicPr>
            <a:picLocks noChangeAspect="1"/>
          </p:cNvPicPr>
          <p:nvPr/>
        </p:nvPicPr>
        <p:blipFill>
          <a:blip r:embed="rId4"/>
          <a:srcRect b="21160"/>
          <a:stretch>
            <a:fillRect/>
          </a:stretch>
        </p:blipFill>
        <p:spPr>
          <a:xfrm>
            <a:off x="8073135" y="1664207"/>
            <a:ext cx="3661663" cy="1874519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8073135" y="3630168"/>
            <a:ext cx="3661663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07   Close deal</a:t>
            </a:r>
            <a:r>
              <a:rPr sz="12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    K10–K12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3135" y="3904487"/>
            <a:ext cx="3661663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Drag the deal to Closed Lost and verify the outcome.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3135" y="4361688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3135" y="4507992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Closed Won / Closed Lost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3135" y="4892040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3135" y="5038344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Closed Lost; outcome recorded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3135" y="5422392"/>
            <a:ext cx="366166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0">
                <a:solidFill>
                  <a:srgbClr val="8A827A"/>
                </a:solidFill>
                <a:latin typeface="Inter"/>
                <a:ea typeface="Inter"/>
                <a:cs typeface="Inter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3135" y="5568696"/>
            <a:ext cx="3661663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stage updates; no confirmation or undo is shown.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3620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463F"/>
                </a:solidFill>
                <a:latin typeface="Inter"/>
                <a:ea typeface="Inter"/>
                <a:cs typeface="Inter"/>
              </a:rPr>
              <a:t>No response: step 05 returns to step 04 to follow up again.    Observed closure: Closed Lost.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06  / 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2   ·   COGNITIVE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Evaluate each step from the user’s 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At each step: the goal, the visible action, the expected result, the feedback, and where confusion could occur.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19072"/>
            <a:ext cx="11277599" cy="6583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19072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19072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02C"/>
                </a:solidFill>
                <a:latin typeface="Inter"/>
                <a:ea typeface="Inter"/>
                <a:cs typeface="Inter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19072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Can the representative connect this step to the intended outcome?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50591"/>
            <a:ext cx="11277599" cy="6583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50591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50591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02C"/>
                </a:solidFill>
                <a:latin typeface="Inter"/>
                <a:ea typeface="Inter"/>
                <a:cs typeface="Inter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50591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Is the appropriate action visible and understandable?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82111"/>
            <a:ext cx="11277599" cy="6583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82111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82111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02C"/>
                </a:solidFill>
                <a:latin typeface="Inter"/>
                <a:ea typeface="Inter"/>
                <a:cs typeface="Inter"/>
              </a:rPr>
              <a:t>Expectation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182111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Can the representative predict what the action will 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13631"/>
            <a:ext cx="11277599" cy="6583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913631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13631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02C"/>
                </a:solidFill>
                <a:latin typeface="Inter"/>
                <a:ea typeface="Inter"/>
                <a:cs typeface="Inter"/>
              </a:rPr>
              <a:t>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913631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Does the system clearly communicate the resulting state?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45152"/>
            <a:ext cx="11277599" cy="6583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4645152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45152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02C"/>
                </a:solidFill>
                <a:latin typeface="Inter"/>
                <a:ea typeface="Inter"/>
                <a:cs typeface="Inter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645152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Where could friction, uncertainty, or error occur?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Terminology    Signposts / Wayfinding   ·   Keep Distances Short   ·   Direct Manipulation   ·   Effectively Invisible Element   ·   Inviting Dead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07  / 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2   ·   COGNITIVE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deal record: five regions to keep track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This annotated record locates the main information areas. The walkthrough also uses the Deals table and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notated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7452360" cy="4840111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Oval 8"/>
          <p:cNvSpPr/>
          <p:nvPr/>
        </p:nvSpPr>
        <p:spPr>
          <a:xfrm>
            <a:off x="8110728" y="1591056"/>
            <a:ext cx="256032" cy="256032"/>
          </a:xfrm>
          <a:prstGeom prst="ellipse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910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572768"/>
            <a:ext cx="3276599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Deal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810512"/>
            <a:ext cx="327659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Amount, close date, pipeline, and Deal Stage. Steps 01, 02, 06, and 07 all read or change the deal’s state from here.</a:t>
            </a:r>
          </a:p>
        </p:txBody>
      </p:sp>
      <p:sp>
        <p:nvSpPr>
          <p:cNvPr id="13" name="Oval 12"/>
          <p:cNvSpPr/>
          <p:nvPr/>
        </p:nvSpPr>
        <p:spPr>
          <a:xfrm>
            <a:off x="8110728" y="2487168"/>
            <a:ext cx="256032" cy="256032"/>
          </a:xfrm>
          <a:prstGeom prst="ellipse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248716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68880"/>
            <a:ext cx="3276599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Activity icon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06624"/>
            <a:ext cx="327659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Note, Email, Call, Task, Meeting. The only route into steps 03 and 04. These icons are labelled here, but not on the screen in step 03.</a:t>
            </a:r>
          </a:p>
        </p:txBody>
      </p:sp>
      <p:sp>
        <p:nvSpPr>
          <p:cNvPr id="17" name="Oval 16"/>
          <p:cNvSpPr/>
          <p:nvPr/>
        </p:nvSpPr>
        <p:spPr>
          <a:xfrm>
            <a:off x="8110728" y="3383280"/>
            <a:ext cx="256032" cy="256032"/>
          </a:xfrm>
          <a:prstGeom prst="ellipse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33832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64992"/>
            <a:ext cx="3276599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About this 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602736"/>
            <a:ext cx="327659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Deal owner, Last Contacted, deal type, priority, Closed Lost Reason. The last two stay blank or stale through the entire walkthrough.</a:t>
            </a:r>
          </a:p>
        </p:txBody>
      </p:sp>
      <p:sp>
        <p:nvSpPr>
          <p:cNvPr id="21" name="Oval 20"/>
          <p:cNvSpPr/>
          <p:nvPr/>
        </p:nvSpPr>
        <p:spPr>
          <a:xfrm>
            <a:off x="8110728" y="4279392"/>
            <a:ext cx="256032" cy="256032"/>
          </a:xfrm>
          <a:prstGeom prst="ellipse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42793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261104"/>
            <a:ext cx="3276599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Activity 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498848"/>
            <a:ext cx="327659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Where the saved note, the sent email, and the October 2 reply all land. Step 05 happens here — the only surface that shows the reply.</a:t>
            </a:r>
          </a:p>
        </p:txBody>
      </p:sp>
      <p:sp>
        <p:nvSpPr>
          <p:cNvPr id="25" name="Oval 24"/>
          <p:cNvSpPr/>
          <p:nvPr/>
        </p:nvSpPr>
        <p:spPr>
          <a:xfrm>
            <a:off x="8110728" y="5175504"/>
            <a:ext cx="256032" cy="256032"/>
          </a:xfrm>
          <a:prstGeom prst="ellipse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8" y="51755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157216"/>
            <a:ext cx="3276599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Contacts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394960"/>
            <a:ext cx="327659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associated contact the email is sent 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Free tier only. Paid-tier behavior was not tested. The later reply is separate from the original closure.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08  / 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2   ·   COGNITIVE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01–02   ·   Review and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Stage is visible, but context is spread out. The first amount-edit path leads away from the 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20_L.png"/>
          <p:cNvPicPr>
            <a:picLocks noChangeAspect="1"/>
          </p:cNvPicPr>
          <p:nvPr/>
        </p:nvPicPr>
        <p:blipFill>
          <a:blip r:embed="rId2"/>
          <a:srcRect b="45021"/>
          <a:stretch>
            <a:fillRect/>
          </a:stretch>
        </p:blipFill>
        <p:spPr>
          <a:xfrm>
            <a:off x="457200" y="1645919"/>
            <a:ext cx="5556503" cy="19659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9" name="Picture 8" descr="p20_R.png"/>
          <p:cNvPicPr>
            <a:picLocks noChangeAspect="1"/>
          </p:cNvPicPr>
          <p:nvPr/>
        </p:nvPicPr>
        <p:blipFill>
          <a:blip r:embed="rId3"/>
          <a:srcRect t="22892" b="22892"/>
          <a:stretch>
            <a:fillRect/>
          </a:stretch>
        </p:blipFill>
        <p:spPr>
          <a:xfrm>
            <a:off x="6178295" y="1645919"/>
            <a:ext cx="5556503" cy="19659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3721607"/>
            <a:ext cx="5556503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831335"/>
            <a:ext cx="41849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01   OPEN &amp;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023" y="3831335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5023" y="3831335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42231"/>
            <a:ext cx="5227319" cy="1252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Understand the deal before acting.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Review stage, amount, activity, and contact.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Stage and amount are visible, but the full context is spread across three panes.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394959"/>
            <a:ext cx="522731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Signposts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295" y="3721607"/>
            <a:ext cx="5556503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887" y="3831335"/>
            <a:ext cx="41849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02   UPDATE DEAL 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66119" y="3831335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66119" y="3831335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887" y="4142231"/>
            <a:ext cx="5227319" cy="1252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Update Amount.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first control opens page settings. The Deals table is the working edit path.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table shows the value in an editable field. The first path does not match the intended edit.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887" y="5394959"/>
            <a:ext cx="522731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Keep Distances Short  ·  Inviting Dead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K3 open record   ·   K4 layout settings   ·   K5 Deals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09  / 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2   ·   COGNITIVE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03–04   ·   Record and follow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note saves. Planning the next action still has to be discovered.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6.png"/>
          <p:cNvPicPr>
            <a:picLocks noChangeAspect="1"/>
          </p:cNvPicPr>
          <p:nvPr/>
        </p:nvPicPr>
        <p:blipFill>
          <a:blip r:embed="rId2"/>
          <a:srcRect t="22755" b="22755"/>
          <a:stretch>
            <a:fillRect/>
          </a:stretch>
        </p:blipFill>
        <p:spPr>
          <a:xfrm>
            <a:off x="457200" y="1645919"/>
            <a:ext cx="5556503" cy="19659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9" name="Picture 8" descr="p22_L.png"/>
          <p:cNvPicPr>
            <a:picLocks noChangeAspect="1"/>
          </p:cNvPicPr>
          <p:nvPr/>
        </p:nvPicPr>
        <p:blipFill>
          <a:blip r:embed="rId3"/>
          <a:srcRect t="22510" b="22510"/>
          <a:stretch>
            <a:fillRect/>
          </a:stretch>
        </p:blipFill>
        <p:spPr>
          <a:xfrm>
            <a:off x="6178295" y="1645919"/>
            <a:ext cx="5556503" cy="19659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3721607"/>
            <a:ext cx="5556503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831335"/>
            <a:ext cx="41849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03   RECORD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023" y="3831335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5023" y="3831335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42231"/>
            <a:ext cx="5227319" cy="1252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Record the conversation.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Save a note.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note appears with a timestamp. “No upcoming next step” remains, so recording activity does not establish the next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394959"/>
            <a:ext cx="522731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Wayfinding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295" y="3721607"/>
            <a:ext cx="5556503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887" y="3831335"/>
            <a:ext cx="41849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04   CONTACT &amp; FOLLOW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66119" y="3831335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66119" y="3831335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887" y="4142231"/>
            <a:ext cx="5227319" cy="1252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Contact the customer and plan follow-up.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Send the email and select the follow-up checkbox beside Send.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 task is created. The checkbox is less prominent than Send, and the task has no reminder.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887" y="5394959"/>
            <a:ext cx="522731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Signposts  ·  Effectively Invisible 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K6 saved note   ·   K7–K8 follow-up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10  / 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2   ·   COGNITIVE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05–07   ·   Respond, advance,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Step 05 uses the later reply. Steps 06–07 are the stage changes from the original walkthrough.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13.png"/>
          <p:cNvPicPr>
            <a:picLocks noChangeAspect="1"/>
          </p:cNvPicPr>
          <p:nvPr/>
        </p:nvPicPr>
        <p:blipFill>
          <a:blip r:embed="rId2"/>
          <a:srcRect b="29088"/>
          <a:stretch>
            <a:fillRect/>
          </a:stretch>
        </p:blipFill>
        <p:spPr>
          <a:xfrm>
            <a:off x="457200" y="1627632"/>
            <a:ext cx="3673855" cy="169164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3410712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20440"/>
            <a:ext cx="230225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05   REVIEW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2375" y="352044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E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2375" y="35204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1C5C42"/>
                </a:solidFill>
                <a:latin typeface="Inter"/>
                <a:ea typeface="Inter"/>
                <a:cs typeface="Inter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31336"/>
            <a:ext cx="3344671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Assess the customer reply.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Open the deal timeline.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incoming email is labeled and dated. In the later capture, the reply says “move forward” while the deal still reads Closed Lost.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449823"/>
            <a:ext cx="334467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Signposts</a:t>
            </a:r>
          </a:p>
        </p:txBody>
      </p:sp>
      <p:pic>
        <p:nvPicPr>
          <p:cNvPr id="15" name="Picture 14" descr="k9.png"/>
          <p:cNvPicPr>
            <a:picLocks noChangeAspect="1"/>
          </p:cNvPicPr>
          <p:nvPr/>
        </p:nvPicPr>
        <p:blipFill>
          <a:blip r:embed="rId3"/>
          <a:srcRect b="29088"/>
          <a:stretch>
            <a:fillRect/>
          </a:stretch>
        </p:blipFill>
        <p:spPr>
          <a:xfrm>
            <a:off x="4259071" y="1627632"/>
            <a:ext cx="3673855" cy="169164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4259071" y="3410712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3663" y="3520440"/>
            <a:ext cx="230225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06   ADVANCE 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4247" y="352044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4247" y="35204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663" y="3831336"/>
            <a:ext cx="3344671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Advance the deal.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Drag it to Presentation Scheduled.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card moves and column counts update. No separate confirmation or undo was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3663" y="5449823"/>
            <a:ext cx="334467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Direct Manipulation</a:t>
            </a:r>
          </a:p>
        </p:txBody>
      </p:sp>
      <p:pic>
        <p:nvPicPr>
          <p:cNvPr id="22" name="Picture 21" descr="k10.png"/>
          <p:cNvPicPr>
            <a:picLocks noChangeAspect="1"/>
          </p:cNvPicPr>
          <p:nvPr/>
        </p:nvPicPr>
        <p:blipFill>
          <a:blip r:embed="rId4"/>
          <a:srcRect b="29088"/>
          <a:stretch>
            <a:fillRect/>
          </a:stretch>
        </p:blipFill>
        <p:spPr>
          <a:xfrm>
            <a:off x="8060943" y="1627632"/>
            <a:ext cx="3673855" cy="169164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8060943" y="3410712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5535" y="3520440"/>
            <a:ext cx="230225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C1917"/>
                </a:solidFill>
                <a:latin typeface="Inter"/>
                <a:ea typeface="Inter"/>
                <a:cs typeface="Inter"/>
              </a:rPr>
              <a:t>07   CLOSE DEAL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66119" y="352044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66119" y="35204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8A5A14"/>
                </a:solidFill>
                <a:latin typeface="Inter"/>
                <a:ea typeface="Inter"/>
                <a:cs typeface="Inter"/>
              </a:rPr>
              <a:t>PARTLY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5535" y="3831336"/>
            <a:ext cx="3344671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Goal.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Record the outcome.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Action.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Drag the deal to Closed Lost.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Feedback.  </a:t>
            </a: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stage changes. Closure uses the same gesture as progression. No separate confirmation or undo was visible.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5535" y="5449823"/>
            <a:ext cx="334467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Keep Distances Short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11  / 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3   ·  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Affinity themes A–B   ·   context and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All original observations are retained. Color is the walkthrough step. A check marks where the interface 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C42"/>
                </a:solidFill>
                <a:latin typeface="Inter"/>
                <a:ea typeface="Inter"/>
                <a:cs typeface="Inter"/>
              </a:rPr>
              <a:t>✓  interface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D5E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01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E6D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02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F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03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4728" y="1591056"/>
            <a:ext cx="1261872" cy="237744"/>
          </a:xfrm>
          <a:prstGeom prst="roundRect">
            <a:avLst>
              <a:gd name="adj" fmla="val 40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1591056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04 Follow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05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D4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06 Advance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92056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07 Close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920240"/>
            <a:ext cx="5565647" cy="443484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029968"/>
            <a:ext cx="51998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THEME A    LAYOUT &amp; GROUPING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212848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Status is fragmented across 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523744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463F"/>
                </a:solidFill>
                <a:latin typeface="Inter"/>
                <a:ea typeface="Inter"/>
                <a:cs typeface="Inter"/>
              </a:rPr>
              <a:t>Carries forward to Finding 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798064"/>
            <a:ext cx="5199887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07792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1    No single screen carries the whole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163824"/>
            <a:ext cx="5199887" cy="457200"/>
          </a:xfrm>
          <a:prstGeom prst="roundRect">
            <a:avLst>
              <a:gd name="adj" fmla="val 8000"/>
            </a:avLst>
          </a:prstGeom>
          <a:solidFill>
            <a:srgbClr val="D5E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163824"/>
            <a:ext cx="4980431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Activity, contact, and the outcome fields live in three separate panels.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66744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D5E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666744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High information density slows scanning of the record.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23359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D5E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023359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Deal Stage and Amount are readable at the top of the panel.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34839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2    Status must be reconstructed across surfaces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90871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D4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690871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board card and the export each show a partial view.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47487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047487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Last Contacted still reads 09/28 after the reply arrives.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9151" y="1920240"/>
            <a:ext cx="5565647" cy="443484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2031" y="2029968"/>
            <a:ext cx="51998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THEME B    CONTROLS &amp;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2031" y="2212848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Consequential changes have weak safeguards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2031" y="2523744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463F"/>
                </a:solidFill>
                <a:latin typeface="Inter"/>
                <a:ea typeface="Inter"/>
                <a:cs typeface="Inter"/>
              </a:rPr>
              <a:t>Carries forward to Finding 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2031" y="2798064"/>
            <a:ext cx="5199887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2031" y="2907792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3    A one-number edit leads away from the task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2031" y="3163824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6D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1759" y="3163824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control nearest Amount opens page layout settings.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2031" y="3520440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6D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1759" y="3520440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same value is editable in the Deals table instead.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2031" y="3931920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4    Closure has no friction at the point of no return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2031" y="4187952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1759" y="4187952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Closing uses the same drag gesture as any stage move.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2031" y="4544568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61759" y="4544568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 confirmation appears and no undo follows the drag.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2031" y="4901183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61759" y="4901183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Closed Lost Reason stays blank; placement and labelling hide it.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2031" y="5257799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1759" y="5257799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Settings counts one change and offers Cancel before writing.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Theme A spans steps 01, 05, and 06: no single screen accounts for the whole state.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12  / 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3   ·  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Affinity themes C–D   ·   follow-up and new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Priority is unchanged: Theme D → 01,  B → 02,  C → 03,  A → 04.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5C42"/>
                </a:solidFill>
                <a:latin typeface="Inter"/>
                <a:ea typeface="Inter"/>
                <a:cs typeface="Inter"/>
              </a:rPr>
              <a:t>✓  interface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D5E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01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E6D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02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F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03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4728" y="1591056"/>
            <a:ext cx="1261872" cy="237744"/>
          </a:xfrm>
          <a:prstGeom prst="roundRect">
            <a:avLst>
              <a:gd name="adj" fmla="val 40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1591056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04 Follow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05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D4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06 Advance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92056" y="1591056"/>
            <a:ext cx="1170432" cy="237744"/>
          </a:xfrm>
          <a:prstGeom prst="roundRect">
            <a:avLst>
              <a:gd name="adj" fmla="val 40000"/>
            </a:avLst>
          </a:prstGeom>
          <a:solidFill>
            <a:srgbClr val="E3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07 Close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920240"/>
            <a:ext cx="5565647" cy="443484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029968"/>
            <a:ext cx="51998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THEME C    VISUAL 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212848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Follow-up exists but may not call 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523744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463F"/>
                </a:solidFill>
                <a:latin typeface="Inter"/>
                <a:ea typeface="Inter"/>
                <a:cs typeface="Inter"/>
              </a:rPr>
              <a:t>Carries forward to Finding 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798064"/>
            <a:ext cx="5199887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07792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5    The control that creates the next step is the quietest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163824"/>
            <a:ext cx="5199887" cy="457200"/>
          </a:xfrm>
          <a:prstGeom prst="roundRect">
            <a:avLst>
              <a:gd name="adj" fmla="val 8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163824"/>
            <a:ext cx="4980431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follow-up checkbox sits beside Send, unticked and low in contrast.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66744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666744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After the note saves, the area still reads “No upcoming next step”.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23359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023359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The saved note appears under Previous activity with a timestamp.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34839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6    The mechanism meant to protect follow-up is silent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90871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690871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task the checkbox creates reads “No reminder”.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47487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047487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It stayed Not Started and became Overdue after closure.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04103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6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404103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The task itself is concrete: due date, owner, To-do, status.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9151" y="1920240"/>
            <a:ext cx="5565647" cy="443484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2031" y="2029968"/>
            <a:ext cx="5199887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THEME D    FEEDBACK &amp; CONSISTENCY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2031" y="2212848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New evidence is disconnected from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2031" y="2523744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463F"/>
                </a:solidFill>
                <a:latin typeface="Inter"/>
                <a:ea typeface="Inter"/>
                <a:cs typeface="Inter"/>
              </a:rPr>
              <a:t>Carries forward to Finding 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2031" y="2798064"/>
            <a:ext cx="5199887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2031" y="2907792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7    A post-closure reply does not challenge the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2031" y="3163824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1759" y="3163824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customer replied four days after the deal was Closed Lost.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2031" y="3520440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1759" y="3520440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reply sits in the timeline; no indicator on the board card.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2031" y="3877056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1759" y="3877056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 notification surfaces it, though the system holds it.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2031" y="4233672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1759" y="4233672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export shows the deal as lost and nothing else.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2031" y="4590288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F8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61759" y="4590288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The incoming email is labelled and dated in the timeline.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2031" y="5001767"/>
            <a:ext cx="519988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What the board does well, for contrast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2031" y="5257799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D4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61759" y="5257799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✓   Dragging updates position and column counts at once.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2031" y="5614415"/>
            <a:ext cx="5199887" cy="310896"/>
          </a:xfrm>
          <a:prstGeom prst="roundRect">
            <a:avLst>
              <a:gd name="adj" fmla="val 8000"/>
            </a:avLst>
          </a:prstGeom>
          <a:solidFill>
            <a:srgbClr val="D4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61759" y="5614415"/>
            <a:ext cx="4980431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new user must still learn that dragging changes the stage.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Five of seven Theme D notes concern the later reply. Theme C spans steps 03–04.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13  / 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4   ·   PRIORITIZED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Four findings carry forward into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priority order is unchanged. Each finding links back to its affinity theme and original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82495"/>
            <a:ext cx="11277599" cy="1554480"/>
          </a:xfrm>
          <a:prstGeom prst="roundRect">
            <a:avLst>
              <a:gd name="adj" fmla="val 7000"/>
            </a:avLst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0B8A4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 post-closure reply does not challenge the recorded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8836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spc="60">
                <a:solidFill>
                  <a:srgbClr val="F0B8A4"/>
                </a:solidFill>
                <a:latin typeface="Inter"/>
                <a:ea typeface="Inter"/>
                <a:cs typeface="Inter"/>
              </a:rPr>
              <a:t>THEME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86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4DED6"/>
                </a:solidFill>
                <a:latin typeface="Inter"/>
                <a:ea typeface="Inter"/>
                <a:cs typeface="Inter"/>
              </a:rPr>
              <a:t>Observed.  The Oct 2 “move forward” reply appears only after the record is opened.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4DED6"/>
                </a:solidFill>
                <a:latin typeface="Inter"/>
                <a:ea typeface="Inter"/>
                <a:cs typeface="Inter"/>
              </a:rPr>
              <a:t>Why it matters.  An active opportunity may continue to be treated as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01568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52958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6615" y="356616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THEME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877056"/>
            <a:ext cx="334467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Closing a deal has little error prevention or visible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72000"/>
            <a:ext cx="334467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user closes with the same drag gesture used for progression.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120640"/>
            <a:ext cx="3344671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 consequential state can be recorded accidentally or prematurely.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9071" y="3401568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3663" y="352958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8487" y="356616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THEME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663" y="3877056"/>
            <a:ext cx="334467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Follow-up exists but may not call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3663" y="4572000"/>
            <a:ext cx="334467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task has no reminder and remains Not Started and Overdue.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3663" y="5120640"/>
            <a:ext cx="3344671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A representative can miss the next action and lose momentum.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0943" y="3401568"/>
            <a:ext cx="3673855" cy="233172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5535" y="352958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24A1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359" y="356616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THEME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5535" y="3877056"/>
            <a:ext cx="334467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Status is fragmented across surfaces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5535" y="4572000"/>
            <a:ext cx="334467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Stage, activity, task state, and reply evidence are separated.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5535" y="5120640"/>
            <a:ext cx="3344671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user must reconcile conflicting signals before acting.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D → 01 outcome    ·    B → 02 safeguards    ·    C → 03 follow-up    ·    A → 04 fragmented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14  / 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FINDING 01   ·   THEME D   ·   FEEDBACK &amp;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later reply leaves the recorded outcome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October 2 “move forward” reply was found by opening the closed deal. Closed Lost remained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82495"/>
            <a:ext cx="2167737" cy="135331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73936"/>
            <a:ext cx="196656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Sep 28  ·  18:20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1"/>
            <a:ext cx="196656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Follow-up 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14015"/>
            <a:ext cx="194828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Email sent; follow-up task created.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4665" y="1682495"/>
            <a:ext cx="2167737" cy="1353312"/>
          </a:xfrm>
          <a:prstGeom prst="roundRect">
            <a:avLst>
              <a:gd name="adj" fmla="val 7000"/>
            </a:avLst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4393" y="1773936"/>
            <a:ext cx="196656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C2C2"/>
                </a:solidFill>
                <a:latin typeface="Inter"/>
                <a:ea typeface="Inter"/>
                <a:cs typeface="Inter"/>
              </a:rPr>
              <a:t>Sep 28  ·  18:32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393" y="1993391"/>
            <a:ext cx="196656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Closed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4393" y="2414015"/>
            <a:ext cx="194828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E4E4"/>
                </a:solidFill>
                <a:latin typeface="Inter"/>
                <a:ea typeface="Inter"/>
                <a:cs typeface="Inter"/>
              </a:rPr>
              <a:t>Deal closed by dragging the 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2131" y="1682495"/>
            <a:ext cx="2167737" cy="135331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1859" y="1773936"/>
            <a:ext cx="196656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Oct 01  ·  08:00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1859" y="1993391"/>
            <a:ext cx="196656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Task 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1859" y="2414015"/>
            <a:ext cx="194828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Not Started. No reminder.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9596" y="1682495"/>
            <a:ext cx="2167737" cy="135331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9324" y="1773936"/>
            <a:ext cx="196656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Oct 02  ·  17:59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9324" y="1993391"/>
            <a:ext cx="196656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Customer replies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9324" y="2414015"/>
            <a:ext cx="194828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“The scope looks good. Please move forward.”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67062" y="1682495"/>
            <a:ext cx="2167737" cy="1353312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6790" y="1773936"/>
            <a:ext cx="196656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Oct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6790" y="1993391"/>
            <a:ext cx="1966569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Reply discovered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6790" y="2414015"/>
            <a:ext cx="1948281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Found by manually opening the closed deal.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00400"/>
            <a:ext cx="4861559" cy="1051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73152" cy="105156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328416"/>
            <a:ext cx="44957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RECORDED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3584448"/>
            <a:ext cx="449579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Closed Lost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8759" y="354787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2E2E"/>
                </a:solidFill>
                <a:latin typeface="Inter"/>
                <a:ea typeface="Inter"/>
                <a:cs typeface="Inter"/>
              </a:rPr>
              <a:t>CONTRADICTS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73239" y="3200400"/>
            <a:ext cx="4861559" cy="1051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3239" y="3200400"/>
            <a:ext cx="73152" cy="1051560"/>
          </a:xfrm>
          <a:prstGeom prst="rect">
            <a:avLst/>
          </a:prstGeom>
          <a:solidFill>
            <a:srgbClr val="E2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2695" y="3328416"/>
            <a:ext cx="44957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NEW CUSTOMER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2695" y="3584448"/>
            <a:ext cx="449579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“Please move forward.”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15968"/>
            <a:ext cx="11277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2E2E"/>
                </a:solidFill>
                <a:latin typeface="Inter"/>
                <a:ea typeface="Inter"/>
                <a:cs typeface="Inter"/>
              </a:rPr>
              <a:t>No warning, flag, badge, or prompt connects the two.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17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OBSERVATION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5546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reply is in the timeline, but the board card and notification center did not bring it to attention in the captured session.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617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WHY IT MATTERS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855464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representative or manager could continue treating the opportunity as lost. This is a potential consequence, not an observed user outcome.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Theme D, cluster 7  →  Finding 01.    Evidence K13, K16, K17–K20, K22.    Later post-closure captures.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15  / 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FINDING 01   ·   SUPPORTING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Where the reply did and did not appear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Inference and unverified items stay explicitly labeled. They are not findings.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64207"/>
            <a:ext cx="5583935" cy="713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64207"/>
            <a:ext cx="73152" cy="713232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755648"/>
            <a:ext cx="439521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Deal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75103"/>
            <a:ext cx="430377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Recorded, but unlinked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9575" y="190195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K13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863" y="1664207"/>
            <a:ext cx="5583935" cy="713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0863" y="1664207"/>
            <a:ext cx="73152" cy="713232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319" y="1755648"/>
            <a:ext cx="439521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Board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19" y="1975103"/>
            <a:ext cx="430377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 new-reply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3239" y="190195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K16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68879"/>
            <a:ext cx="5583935" cy="713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68879"/>
            <a:ext cx="73152" cy="713232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560320"/>
            <a:ext cx="439521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Notification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779775"/>
            <a:ext cx="430377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 reply 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9575" y="270662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K17–K20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0863" y="2468879"/>
            <a:ext cx="5583935" cy="713232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0863" y="2468879"/>
            <a:ext cx="73152" cy="713232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319" y="2560320"/>
            <a:ext cx="439521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Exported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319" y="2779775"/>
            <a:ext cx="430377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 reply; Next Activity empty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3239" y="270662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827A"/>
                </a:solidFill>
                <a:latin typeface="Inter"/>
                <a:ea typeface="Inter"/>
                <a:cs typeface="Inter"/>
              </a:rPr>
              <a:t>K22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55848"/>
            <a:ext cx="11277599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46557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60">
                <a:solidFill>
                  <a:srgbClr val="E24A1A"/>
                </a:solidFill>
                <a:latin typeface="Inter"/>
                <a:ea typeface="Inter"/>
                <a:cs typeface="Inter"/>
              </a:rPr>
              <a:t>K22   ·   EXPORTED CSV    ·    generated 2026-10-04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850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managerial record still reads Closed Lost.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014215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A827A"/>
                </a:solidFill>
                <a:latin typeface="Inter"/>
                <a:ea typeface="Inter"/>
                <a:cs typeface="Inter"/>
              </a:rPr>
              <a:t>DEAL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197096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Closed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7" y="4014215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A827A"/>
                </a:solidFill>
                <a:latin typeface="Inter"/>
                <a:ea typeface="Inter"/>
                <a:cs typeface="Inter"/>
              </a:rPr>
              <a:t>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7" y="4197096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15000.0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7" y="4014215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A827A"/>
                </a:solidFill>
                <a:latin typeface="Inter"/>
                <a:ea typeface="Inter"/>
                <a:cs typeface="Inter"/>
              </a:rPr>
              <a:t>CLOSE 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7" y="4197096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2026-09-28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7" y="4014215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A827A"/>
                </a:solidFill>
                <a:latin typeface="Inter"/>
                <a:ea typeface="Inter"/>
                <a:cs typeface="Inter"/>
              </a:rPr>
              <a:t>NEXT ACTIVITY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7" y="4197096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2E2E"/>
                </a:solidFill>
                <a:latin typeface="Inter"/>
                <a:ea typeface="Inter"/>
                <a:cs typeface="Inter"/>
              </a:rPr>
              <a:t>Empty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0848" y="4014215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A827A"/>
                </a:solidFill>
                <a:latin typeface="Inter"/>
                <a:ea typeface="Inter"/>
                <a:cs typeface="Inter"/>
              </a:rPr>
              <a:t>DEAL OWNER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4197096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Safa 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745736"/>
            <a:ext cx="5574791" cy="1051560"/>
          </a:xfrm>
          <a:prstGeom prst="roundRect">
            <a:avLst>
              <a:gd name="adj" fmla="val 6000"/>
            </a:avLst>
          </a:prstGeom>
          <a:solidFill>
            <a:srgbClr val="F8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55464"/>
            <a:ext cx="520903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8A5A14"/>
                </a:solidFill>
                <a:latin typeface="Inter"/>
                <a:ea typeface="Inter"/>
                <a:cs typeface="Inter"/>
              </a:rPr>
              <a:t>INFERENCE   ·   NOT A FINDING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111496"/>
            <a:ext cx="5209031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connected personal inbox may record the reply as activity rather than a conversation. This possible mechanism was not observed.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0007" y="4745736"/>
            <a:ext cx="5574791" cy="1051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2887" y="4855464"/>
            <a:ext cx="520903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6E675F"/>
                </a:solidFill>
                <a:latin typeface="Inter"/>
                <a:ea typeface="Inter"/>
                <a:cs typeface="Inter"/>
              </a:rPr>
              <a:t>STILL UNVERIFIED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2887" y="5111496"/>
            <a:ext cx="5209031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Reopening behavior, Home / Catch-up / mobile visibility, and differences on a paid tier were not tested.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16  / 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FINDING 02   ·   THEME B   ·   CONTROLS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Closing the deal offers little visible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closure gesture matches ordinary stage progression. No separate confirmation or undo was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24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19"/>
            <a:ext cx="6720840" cy="432520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007696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K10.  The deal is dragged into Closed Lost — the same gesture used to advance a stage.</a:t>
            </a:r>
          </a:p>
        </p:txBody>
      </p:sp>
      <p:pic>
        <p:nvPicPr>
          <p:cNvPr id="10" name="Picture 9" descr="k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645919"/>
            <a:ext cx="4355591" cy="1141355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379208" y="2860427"/>
            <a:ext cx="435559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K21.  Settings shows Save and Cancel, and counts one change before anything is written.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208" y="3637667"/>
            <a:ext cx="4355591" cy="1554480"/>
          </a:xfrm>
          <a:prstGeom prst="roundRect">
            <a:avLst>
              <a:gd name="adj" fmla="val 7000"/>
            </a:avLst>
          </a:prstGeom>
          <a:solidFill>
            <a:srgbClr val="F8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756539"/>
            <a:ext cx="406298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8B2E2E"/>
                </a:solidFill>
                <a:latin typeface="Inter"/>
                <a:ea typeface="Inter"/>
                <a:cs typeface="Inter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012571"/>
            <a:ext cx="4062983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consequential outcome could be recorded accidentally or too soon. Recovery was unclear in this walkthrough.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Theme B, cluster 4  →  Finding 02.    Direct Manipulation  ·  Error prevention  ·  Recovery.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17  / 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FINDING 03   ·   THEME C   ·   VISUAL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Follow-up exists but may not call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task is created, but the captured follow-up cues are easy to overlook.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22_L.png"/>
          <p:cNvPicPr>
            <a:picLocks noChangeAspect="1"/>
          </p:cNvPicPr>
          <p:nvPr/>
        </p:nvPicPr>
        <p:blipFill>
          <a:blip r:embed="rId2"/>
          <a:srcRect l="0" t="20003" r="0" b="20003"/>
          <a:stretch>
            <a:fillRect/>
          </a:stretch>
        </p:blipFill>
        <p:spPr>
          <a:xfrm>
            <a:off x="457200" y="1645919"/>
            <a:ext cx="5565647" cy="214884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9" name="Picture 8" descr="p22_R.png"/>
          <p:cNvPicPr>
            <a:picLocks noChangeAspect="1"/>
          </p:cNvPicPr>
          <p:nvPr/>
        </p:nvPicPr>
        <p:blipFill>
          <a:blip r:embed="rId3"/>
          <a:srcRect l="0" r="0" b="40006"/>
          <a:stretch>
            <a:fillRect/>
          </a:stretch>
        </p:blipFill>
        <p:spPr>
          <a:xfrm>
            <a:off x="6169151" y="1645919"/>
            <a:ext cx="5565647" cy="214884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3867912"/>
            <a:ext cx="5565647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K7.  The follow-up checkbox sits beside Send, unticked and lower in contrast.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9151" y="3867912"/>
            <a:ext cx="5565647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K15.  The task reads “No reminder,” due Oct 1, and still Not 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3686047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407408"/>
            <a:ext cx="33934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663440"/>
            <a:ext cx="3393439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checkbox is visually quiet beside Send. The created task has no reminder and remains Not Started and Overdue.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2975" y="4297680"/>
            <a:ext cx="3686047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79" y="4407408"/>
            <a:ext cx="33934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79" y="4663440"/>
            <a:ext cx="3393439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A representative can miss the next action and lose momentum.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8751" y="4297680"/>
            <a:ext cx="3686047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5055" y="4407408"/>
            <a:ext cx="33934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5055" y="4663440"/>
            <a:ext cx="3393439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K6, K7, K8, K15.  Signposts · Effectively Invisible Element ·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Theme C, clusters 5–6  →  Finding 03.    Original priority 03.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18  / 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FINDING 04   ·   THEME A   ·   LAYOUT &amp;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Status is fragmented across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The representative must scan and reconcile multiple areas to understand what is true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notated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7632"/>
            <a:ext cx="7360920" cy="4780723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001000" y="1627632"/>
            <a:ext cx="3733799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737360"/>
            <a:ext cx="344119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OBSERVED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1993392"/>
            <a:ext cx="3441191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Stage, amount, activity, contact, task state, and reply evidence are distributed across the record and the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71800"/>
            <a:ext cx="3733799" cy="960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3081528"/>
            <a:ext cx="344119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TERMINOLOGY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3337560"/>
            <a:ext cx="3441191" cy="4846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Wayfinding  ·  Signposts  ·  Visibility of system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041648"/>
            <a:ext cx="3733799" cy="12344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4151376"/>
            <a:ext cx="3441191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4407408"/>
            <a:ext cx="3441191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user spends effort reconstructing context and may act on an incomplete or stale understanding.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Theme A, clusters 1–2  →  Finding 04.    Record, board, task, and reply must be read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19  / 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01–02   ·   Review and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Full-resolution captures behind the first two walkthrough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01   ·   OPEN &amp;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295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02   ·   UPDATE DEAL INFO</a:t>
            </a:r>
          </a:p>
        </p:txBody>
      </p:sp>
      <p:pic>
        <p:nvPicPr>
          <p:cNvPr id="10" name="Picture 9" descr="p20_L.png"/>
          <p:cNvPicPr>
            <a:picLocks noChangeAspect="1"/>
          </p:cNvPicPr>
          <p:nvPr/>
        </p:nvPicPr>
        <p:blipFill>
          <a:blip r:embed="rId2"/>
          <a:srcRect l="2883" r="2883"/>
          <a:stretch>
            <a:fillRect/>
          </a:stretch>
        </p:blipFill>
        <p:spPr>
          <a:xfrm>
            <a:off x="457200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11" name="Picture 10" descr="p20_R.png"/>
          <p:cNvPicPr>
            <a:picLocks noChangeAspect="1"/>
          </p:cNvPicPr>
          <p:nvPr/>
        </p:nvPicPr>
        <p:blipFill>
          <a:blip r:embed="rId3"/>
          <a:srcRect l="2221" r="2221"/>
          <a:stretch>
            <a:fillRect/>
          </a:stretch>
        </p:blipFill>
        <p:spPr>
          <a:xfrm>
            <a:off x="6178295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K3.  The deal record on open. Stage and amount are visible; activity and contact sit in separate panels.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295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K4.  The first attempt to edit Amount opened the page layout editor instead.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Supporting interface captures  ·  Existing product evidence  ·  No invented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20  / 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02–03   ·   Update and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Full-resolution captures behind the editing path and the saved note.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02   ·   UPDATE DEAL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295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03   ·   RECORD ACTIVITY</a:t>
            </a:r>
          </a:p>
        </p:txBody>
      </p:sp>
      <p:pic>
        <p:nvPicPr>
          <p:cNvPr id="10" name="Picture 9" descr="p21_L.png"/>
          <p:cNvPicPr>
            <a:picLocks noChangeAspect="1"/>
          </p:cNvPicPr>
          <p:nvPr/>
        </p:nvPicPr>
        <p:blipFill>
          <a:blip r:embed="rId2"/>
          <a:srcRect l="2883" r="2883"/>
          <a:stretch>
            <a:fillRect/>
          </a:stretch>
        </p:blipFill>
        <p:spPr>
          <a:xfrm>
            <a:off x="457200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11" name="Picture 10" descr="p21_R.png"/>
          <p:cNvPicPr>
            <a:picLocks noChangeAspect="1"/>
          </p:cNvPicPr>
          <p:nvPr/>
        </p:nvPicPr>
        <p:blipFill>
          <a:blip r:embed="rId3"/>
          <a:srcRect l="2883" r="2883"/>
          <a:stretch>
            <a:fillRect/>
          </a:stretch>
        </p:blipFill>
        <p:spPr>
          <a:xfrm>
            <a:off x="6178295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K5.  The same value is editable directly in the Deals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295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K6.  The note is saved and “No upcoming next step” is still showing.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Supporting interface captures  ·  Existing product evidence  ·  No invented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21  / 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 04   ·   Contact and follow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Full-resolution captures behind the follow-up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04   ·   CONTACT &amp; FOLLOW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295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04   ·   CONTACT &amp; FOLLOW UP</a:t>
            </a:r>
          </a:p>
        </p:txBody>
      </p:sp>
      <p:pic>
        <p:nvPicPr>
          <p:cNvPr id="10" name="Picture 9" descr="p22_L.png"/>
          <p:cNvPicPr>
            <a:picLocks noChangeAspect="1"/>
          </p:cNvPicPr>
          <p:nvPr/>
        </p:nvPicPr>
        <p:blipFill>
          <a:blip r:embed="rId2"/>
          <a:srcRect l="2883" r="2883"/>
          <a:stretch>
            <a:fillRect/>
          </a:stretch>
        </p:blipFill>
        <p:spPr>
          <a:xfrm>
            <a:off x="457200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11" name="Picture 10" descr="p22_R.png"/>
          <p:cNvPicPr>
            <a:picLocks noChangeAspect="1"/>
          </p:cNvPicPr>
          <p:nvPr/>
        </p:nvPicPr>
        <p:blipFill>
          <a:blip r:embed="rId3"/>
          <a:srcRect l="2883" r="2883"/>
          <a:stretch>
            <a:fillRect/>
          </a:stretch>
        </p:blipFill>
        <p:spPr>
          <a:xfrm>
            <a:off x="6178295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K7.  The follow-up checkbox sits beside Send, unticked by default and lower in contrast.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295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K15.  Reminder reads “No reminder.” The task was due Oct 1 and still Not Started.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Supporting interface captures  ·  Existing product evidence  ·  No invented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22  / 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Steps 05–06   ·   Respond and advance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Full-resolution captures behind the response branch and the stage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05   ·   REVIEW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295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06   ·   ADVANCE STAGE</a:t>
            </a:r>
          </a:p>
        </p:txBody>
      </p:sp>
      <p:pic>
        <p:nvPicPr>
          <p:cNvPr id="10" name="Picture 9" descr="p23_L.png"/>
          <p:cNvPicPr>
            <a:picLocks noChangeAspect="1"/>
          </p:cNvPicPr>
          <p:nvPr/>
        </p:nvPicPr>
        <p:blipFill>
          <a:blip r:embed="rId2"/>
          <a:srcRect l="2883" r="2883"/>
          <a:stretch>
            <a:fillRect/>
          </a:stretch>
        </p:blipFill>
        <p:spPr>
          <a:xfrm>
            <a:off x="457200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11" name="Picture 10" descr="p23_R.png"/>
          <p:cNvPicPr>
            <a:picLocks noChangeAspect="1"/>
          </p:cNvPicPr>
          <p:nvPr/>
        </p:nvPicPr>
        <p:blipFill>
          <a:blip r:embed="rId3"/>
          <a:srcRect l="2883" r="2883"/>
          <a:stretch>
            <a:fillRect/>
          </a:stretch>
        </p:blipFill>
        <p:spPr>
          <a:xfrm>
            <a:off x="6178295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K13.  The Oct 2 reply sits on the record beside the stage Closed Lost. Last Contacted still reads 09/28.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295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K9.  After the drag, the card is in the new column and the counts update. No confirmation appears.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Supporting interface captures  ·  Existing product evidence  ·  No invented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23  / 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Step 07   ·   Close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Full-resolution captures behind the closure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07   ·   CLOSE 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8295" y="1609344"/>
            <a:ext cx="555650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1E463F"/>
                </a:solidFill>
                <a:latin typeface="Inter"/>
                <a:ea typeface="Inter"/>
                <a:cs typeface="Inter"/>
              </a:rPr>
              <a:t>07   ·   CLOSE DEAL</a:t>
            </a:r>
          </a:p>
        </p:txBody>
      </p:sp>
      <p:pic>
        <p:nvPicPr>
          <p:cNvPr id="10" name="Picture 9" descr="p24_L.png"/>
          <p:cNvPicPr>
            <a:picLocks noChangeAspect="1"/>
          </p:cNvPicPr>
          <p:nvPr/>
        </p:nvPicPr>
        <p:blipFill>
          <a:blip r:embed="rId2"/>
          <a:srcRect l="2883" r="2883"/>
          <a:stretch>
            <a:fillRect/>
          </a:stretch>
        </p:blipFill>
        <p:spPr>
          <a:xfrm>
            <a:off x="457200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pic>
        <p:nvPicPr>
          <p:cNvPr id="11" name="Picture 10" descr="p24_R.png"/>
          <p:cNvPicPr>
            <a:picLocks noChangeAspect="1"/>
          </p:cNvPicPr>
          <p:nvPr/>
        </p:nvPicPr>
        <p:blipFill>
          <a:blip r:embed="rId3"/>
          <a:srcRect l="2883" r="2883"/>
          <a:stretch>
            <a:fillRect/>
          </a:stretch>
        </p:blipFill>
        <p:spPr>
          <a:xfrm>
            <a:off x="6178295" y="1901952"/>
            <a:ext cx="5556503" cy="379476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K10.  Closing uses the same unguarded drag gesture as any other stage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295" y="5751576"/>
            <a:ext cx="555650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K12.  The final row: Closed Lost, $15,000, close date 09/28/2026. The loss reason is blank.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Supporting interface captures  ·  Existing product evidence  ·  No invented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24  /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APPENDIX   ·   CROSS-STEP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Supporting observations across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Rebuilt from the original captures. Full-screen originals are on slides 20–24.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27632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3.png"/>
          <p:cNvPicPr>
            <a:picLocks noChangeAspect="1"/>
          </p:cNvPicPr>
          <p:nvPr/>
        </p:nvPicPr>
        <p:blipFill>
          <a:blip r:embed="rId2"/>
          <a:srcRect b="57644"/>
          <a:stretch>
            <a:fillRect/>
          </a:stretch>
        </p:blipFill>
        <p:spPr>
          <a:xfrm>
            <a:off x="548640" y="1719072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66928" y="2743200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07791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Status is distributed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63824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Qualified To Buy and $12,000 are visible, while Last Contacted and Closed Lost Reason both read “—” across separate panels.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9071" y="1627632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20_R.png"/>
          <p:cNvPicPr>
            <a:picLocks noChangeAspect="1"/>
          </p:cNvPicPr>
          <p:nvPr/>
        </p:nvPicPr>
        <p:blipFill>
          <a:blip r:embed="rId3"/>
          <a:srcRect b="57856"/>
          <a:stretch>
            <a:fillRect/>
          </a:stretch>
        </p:blipFill>
        <p:spPr>
          <a:xfrm>
            <a:off x="4350511" y="1719072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368799" y="2743200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K4–K5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799" y="2907791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The first edit path fails; the table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799" y="3163824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direct amount edit appears only after the record-page attempt opened layout settings.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0943" y="1627632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6.png"/>
          <p:cNvPicPr>
            <a:picLocks noChangeAspect="1"/>
          </p:cNvPicPr>
          <p:nvPr/>
        </p:nvPicPr>
        <p:blipFill>
          <a:blip r:embed="rId4"/>
          <a:srcRect b="57644"/>
          <a:stretch>
            <a:fillRect/>
          </a:stretch>
        </p:blipFill>
        <p:spPr>
          <a:xfrm>
            <a:off x="8152383" y="1719072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8170671" y="2743200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0671" y="2907791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Note saved, next step empty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671" y="3163824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timeline confirms the note while the interface still reads “No upcoming next step.”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67328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22_L.png"/>
          <p:cNvPicPr>
            <a:picLocks noChangeAspect="1"/>
          </p:cNvPicPr>
          <p:nvPr/>
        </p:nvPicPr>
        <p:blipFill>
          <a:blip r:embed="rId5"/>
          <a:srcRect b="57263"/>
          <a:stretch>
            <a:fillRect/>
          </a:stretch>
        </p:blipFill>
        <p:spPr>
          <a:xfrm>
            <a:off x="548640" y="3858768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566928" y="4882896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K7–K8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47488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Follow-up created without a reminder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03520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quiet checkbox creates a task whose expanded state says “No reminder.”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9071" y="3767328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9.png"/>
          <p:cNvPicPr>
            <a:picLocks noChangeAspect="1"/>
          </p:cNvPicPr>
          <p:nvPr/>
        </p:nvPicPr>
        <p:blipFill>
          <a:blip r:embed="rId6"/>
          <a:srcRect b="57644"/>
          <a:stretch>
            <a:fillRect/>
          </a:stretch>
        </p:blipFill>
        <p:spPr>
          <a:xfrm>
            <a:off x="4350511" y="3858768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4368799" y="4882896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8799" y="5047488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Stage change relies on 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8799" y="5303520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Card position and the updated column counts are the only confirmation. No separate message is shown.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0943" y="3767328"/>
            <a:ext cx="3673855" cy="20299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k10.png"/>
          <p:cNvPicPr>
            <a:picLocks noChangeAspect="1"/>
          </p:cNvPicPr>
          <p:nvPr/>
        </p:nvPicPr>
        <p:blipFill>
          <a:blip r:embed="rId7"/>
          <a:srcRect b="57644"/>
          <a:stretch>
            <a:fillRect/>
          </a:stretch>
        </p:blipFill>
        <p:spPr>
          <a:xfrm>
            <a:off x="8152383" y="3858768"/>
            <a:ext cx="3490975" cy="960120"/>
          </a:xfrm>
          <a:prstGeom prst="rect">
            <a:avLst/>
          </a:prstGeom>
          <a:effectLst/>
          <a:ln w="9525">
            <a:solidFill>
              <a:srgbClr val="D9D2C8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8170671" y="4882896"/>
            <a:ext cx="34543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24A1A"/>
                </a:solidFill>
                <a:latin typeface="Inter"/>
                <a:ea typeface="Inter"/>
                <a:cs typeface="Inter"/>
              </a:rPr>
              <a:t>K10 + K21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0671" y="5047488"/>
            <a:ext cx="34543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Closure is unguarded; settings are protected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0671" y="5303520"/>
            <a:ext cx="3454399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Closing offers no confirmation and no undo, while Settings counts one change and offers Cancel.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HubSpot CRM  ·  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25  / 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E24A1A"/>
                </a:solidFill>
                <a:latin typeface="Inter"/>
                <a:ea typeface="Inter"/>
                <a:cs typeface="Inter"/>
              </a:rPr>
              <a:t>SUBMISSION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6079" y="2743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8A827A"/>
                </a:solidFill>
                <a:latin typeface="Inter"/>
                <a:ea typeface="Inter"/>
                <a:cs typeface="Inter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Rubric coverage, evidence boundaries, and AI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75F"/>
                </a:solidFill>
                <a:latin typeface="Inter"/>
                <a:ea typeface="Inter"/>
                <a:cs typeface="Inter"/>
              </a:rPr>
              <a:t>One evaluation, grounded in the supplied HubSpot interface evidence. No new findings were added in this redesign.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7599" cy="9144"/>
          </a:xfrm>
          <a:prstGeom prst="rect">
            <a:avLst/>
          </a:prstGeom>
          <a:solidFill>
            <a:srgbClr val="E3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45919"/>
            <a:ext cx="5565647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RUBRIC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51633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Existing workflow — slides 03–06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59151"/>
            <a:ext cx="51633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Cognitive walkthrough — slides 07–11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33471"/>
            <a:ext cx="51633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Synthesis and affinity map — slides 12–13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07791"/>
            <a:ext cx="51633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Prioritized findings — slides 14–19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82111"/>
            <a:ext cx="5163311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7"/>
                </a:solidFill>
                <a:latin typeface="Inter"/>
                <a:ea typeface="Inter"/>
                <a:cs typeface="Inter"/>
              </a:rPr>
              <a:t>Evidence appendix — slides 20–25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9151" y="1645919"/>
            <a:ext cx="5565647" cy="19659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319" y="1773936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E24A1A"/>
                </a:solidFill>
                <a:latin typeface="Inter"/>
                <a:ea typeface="Inter"/>
                <a:cs typeface="Inter"/>
              </a:rPr>
              <a:t>EVIDENCE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19" y="2066543"/>
            <a:ext cx="5163311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One existing qualified deal, walked end to end on the free tier of HubSpot.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319" y="2414015"/>
            <a:ext cx="5163311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observed workflow ends in Closed Lost.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19" y="2761487"/>
            <a:ext cx="5163311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The October 2 reply is a walkthrough branch, captured after closure.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319" y="3108959"/>
            <a:ext cx="5163311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No user research, participant study, or behavioral claim is invented.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67327"/>
            <a:ext cx="5565647" cy="169164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3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77055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70">
                <a:solidFill>
                  <a:srgbClr val="E24A1A"/>
                </a:solidFill>
                <a:latin typeface="Inter"/>
                <a:ea typeface="Inter"/>
                <a:cs typeface="Inter"/>
              </a:rPr>
              <a:t>DESIGN TERMINOLOGY APPLIED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33087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Signposts &amp; wayfinding — the saved note, the empty next step, and the reply that never leaves the timeline.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43983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Keep Distances Short — the Amount edit and the closure gesture.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54879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Direct Manipulation — the drag that advances the stage, and the same drag that ends the deal.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65775"/>
            <a:ext cx="5199887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342E"/>
                </a:solidFill>
                <a:latin typeface="Inter"/>
                <a:ea typeface="Inter"/>
                <a:cs typeface="Inter"/>
              </a:rPr>
              <a:t>Effectively Invisible Element · Inviting Dead End · Potential Error — the follow-up checkbox, the page-layout detour, and the unguarded close.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9151" y="3767327"/>
            <a:ext cx="5565647" cy="1691640"/>
          </a:xfrm>
          <a:prstGeom prst="roundRect">
            <a:avLst>
              <a:gd name="adj" fmla="val 7000"/>
            </a:avLst>
          </a:prstGeom>
          <a:solidFill>
            <a:srgbClr val="14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319" y="3877055"/>
            <a:ext cx="5199887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F0B8A4"/>
                </a:solidFill>
                <a:latin typeface="Inter"/>
                <a:ea typeface="Inter"/>
                <a:cs typeface="Inter"/>
              </a:rPr>
              <a:t>AI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19" y="4133087"/>
            <a:ext cx="5181599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2DA"/>
                </a:solidFill>
                <a:latin typeface="Inter"/>
                <a:ea typeface="Inter"/>
                <a:cs typeface="Inter"/>
              </a:rPr>
              <a:t>Tools used on the original submission: Claude (Anthropic), ChatGPT (OpenAI), Figma Make.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319" y="4443983"/>
            <a:ext cx="5181599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2DA"/>
                </a:solidFill>
                <a:latin typeface="Inter"/>
                <a:ea typeface="Inter"/>
                <a:cs typeface="Inter"/>
              </a:rPr>
              <a:t>Used for organizing observations, clarifying terminology, editing wording, and producing layout.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319" y="4754879"/>
            <a:ext cx="5181599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2DA"/>
                </a:solidFill>
                <a:latin typeface="Inter"/>
                <a:ea typeface="Inter"/>
                <a:cs typeface="Inter"/>
              </a:rPr>
              <a:t>OCR recovered wording from captures the evaluator had already taken.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319" y="5065775"/>
            <a:ext cx="5181599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2DA"/>
                </a:solidFill>
                <a:latin typeface="Inter"/>
                <a:ea typeface="Inter"/>
                <a:cs typeface="Inter"/>
              </a:rPr>
              <a:t>AI did not conduct the walkthrough, analyze the interface, or generate findings. Observations, evidence, and conclusions are Safa Badamchi’s.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This file is a visual redesign. Wording, evidence, and findings are unchanged. No new walkthrough was added.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37519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9B93"/>
                </a:solidFill>
                <a:latin typeface="Inter"/>
                <a:ea typeface="Inter"/>
                <a:cs typeface="Inter"/>
              </a:rPr>
              <a:t>26  /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HubSpot CRM — Existing experience evaluation</dc:title>
  <dc:subject>Phase 1 final course submission</dc:subject>
  <dc:creator>Safa Badamchi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UX evaluation</cp:category>
</cp:coreProperties>
</file>